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logo.png">    </p:cNvPr>
          <p:cNvPicPr>
            <a:picLocks noChangeAspect="1"/>
          </p:cNvPicPr>
          <p:nvPr/>
        </p:nvPicPr>
        <p:blipFill>
          <a:blip r:embed="rId1"/>
          <a:stretch>
            <a:fillRect/>
          </a:stretch>
        </p:blipFill>
        <p:spPr>
          <a:xfrm>
            <a:off x="73152" y="109728"/>
            <a:ext cx="1828800" cy="782726"/>
          </a:xfrm>
          <a:prstGeom prst="rect">
            <a:avLst/>
          </a:prstGeom>
        </p:spPr>
      </p:pic>
      <p:pic>
        <p:nvPicPr>
          <p:cNvPr id="5" name="Image 1" descr="/home/claude/hosp_assets/pattern.jpeg">    </p:cNvPr>
          <p:cNvPicPr>
            <a:picLocks noChangeAspect="1"/>
          </p:cNvPicPr>
          <p:nvPr/>
        </p:nvPicPr>
        <p:blipFill>
          <a:blip r:embed="rId2">
            <a:alphaModFix amt="12000"/>
          </a:blip>
          <a:stretch>
            <a:fillRect/>
          </a:stretch>
        </p:blipFill>
        <p:spPr>
          <a:xfrm>
            <a:off x="-548640" y="4114800"/>
            <a:ext cx="3108960" cy="3108960"/>
          </a:xfrm>
          <a:prstGeom prst="rect">
            <a:avLst/>
          </a:prstGeom>
        </p:spPr>
      </p:pic>
      <p:sp>
        <p:nvSpPr>
          <p:cNvPr id="6" name="Text 2"/>
          <p:cNvSpPr/>
          <p:nvPr/>
        </p:nvSpPr>
        <p:spPr>
          <a:xfrm>
            <a:off x="731520" y="914400"/>
            <a:ext cx="10725912" cy="822960"/>
          </a:xfrm>
          <a:prstGeom prst="rect">
            <a:avLst/>
          </a:prstGeom>
          <a:noFill/>
          <a:ln/>
        </p:spPr>
        <p:txBody>
          <a:bodyPr wrap="square" lIns="0" tIns="0" rIns="0" bIns="0" rtlCol="0" anchor="ctr"/>
          <a:lstStyle/>
          <a:p>
            <a:pPr algn="ctr" indent="0" marL="0">
              <a:buNone/>
            </a:pPr>
            <a:r>
              <a:rPr lang="en-US" sz="2600" b="1" dirty="0">
                <a:solidFill>
                  <a:srgbClr val="C00000"/>
                </a:solidFill>
                <a:latin typeface="Calibri" pitchFamily="34" charset="0"/>
                <a:ea typeface="Calibri" pitchFamily="34" charset="-122"/>
                <a:cs typeface="Calibri" pitchFamily="34" charset="-120"/>
              </a:rPr>
              <a:t>Data Structures and Algorithms - 3 (25CS2103E)</a:t>
            </a:r>
            <a:endParaRPr lang="en-US" sz="2600" dirty="0"/>
          </a:p>
        </p:txBody>
      </p:sp>
      <p:sp>
        <p:nvSpPr>
          <p:cNvPr id="7" name="Text 3"/>
          <p:cNvSpPr/>
          <p:nvPr/>
        </p:nvSpPr>
        <p:spPr>
          <a:xfrm>
            <a:off x="731520" y="1783080"/>
            <a:ext cx="10725912" cy="914400"/>
          </a:xfrm>
          <a:prstGeom prst="rect">
            <a:avLst/>
          </a:prstGeom>
          <a:noFill/>
          <a:ln/>
        </p:spPr>
        <p:txBody>
          <a:bodyPr wrap="square" lIns="0" tIns="0" rIns="0" bIns="0" rtlCol="0" anchor="ctr"/>
          <a:lstStyle/>
          <a:p>
            <a:pPr algn="ctr" indent="0" marL="0">
              <a:buNone/>
            </a:pPr>
            <a:r>
              <a:rPr lang="en-US" sz="3000" b="1" dirty="0">
                <a:solidFill>
                  <a:srgbClr val="C00000"/>
                </a:solidFill>
                <a:latin typeface="Calibri" pitchFamily="34" charset="0"/>
                <a:ea typeface="Calibri" pitchFamily="34" charset="-122"/>
                <a:cs typeface="Calibri" pitchFamily="34" charset="-120"/>
              </a:rPr>
              <a:t>Hospital Bed / Operating Room Scheduling Using Advanced Algorithms</a:t>
            </a:r>
            <a:endParaRPr lang="en-US" sz="3000" dirty="0"/>
          </a:p>
        </p:txBody>
      </p:sp>
      <p:sp>
        <p:nvSpPr>
          <p:cNvPr id="8" name="Text 4"/>
          <p:cNvSpPr/>
          <p:nvPr/>
        </p:nvSpPr>
        <p:spPr>
          <a:xfrm>
            <a:off x="731520" y="3063240"/>
            <a:ext cx="10725912" cy="365760"/>
          </a:xfrm>
          <a:prstGeom prst="rect">
            <a:avLst/>
          </a:prstGeom>
          <a:noFill/>
          <a:ln/>
        </p:spPr>
        <p:txBody>
          <a:bodyPr wrap="square" lIns="0" tIns="0" rIns="0" bIns="0" rtlCol="0" anchor="ctr"/>
          <a:lstStyle/>
          <a:p>
            <a:pPr algn="ctr" indent="0" marL="0">
              <a:buNone/>
            </a:pPr>
            <a:r>
              <a:rPr lang="en-US" sz="1700" b="1" dirty="0">
                <a:solidFill>
                  <a:srgbClr val="0070C0"/>
                </a:solidFill>
                <a:latin typeface="Calibri" pitchFamily="34" charset="0"/>
                <a:ea typeface="Calibri" pitchFamily="34" charset="-122"/>
                <a:cs typeface="Calibri" pitchFamily="34" charset="-120"/>
              </a:rPr>
              <a:t>Team Members</a:t>
            </a:r>
            <a:endParaRPr lang="en-US" sz="1700" dirty="0"/>
          </a:p>
        </p:txBody>
      </p:sp>
      <p:sp>
        <p:nvSpPr>
          <p:cNvPr id="9" name="Text 5"/>
          <p:cNvSpPr/>
          <p:nvPr/>
        </p:nvSpPr>
        <p:spPr>
          <a:xfrm>
            <a:off x="731520" y="3456432"/>
            <a:ext cx="10725912" cy="685800"/>
          </a:xfrm>
          <a:prstGeom prst="rect">
            <a:avLst/>
          </a:prstGeom>
          <a:noFill/>
          <a:ln/>
        </p:spPr>
        <p:txBody>
          <a:bodyPr wrap="square" lIns="0" tIns="0" rIns="0" bIns="0" rtlCol="0" anchor="ctr"/>
          <a:lstStyle/>
          <a:p>
            <a:pPr algn="ctr" indent="0" marL="0">
              <a:lnSpc>
                <a:spcPct val="130000"/>
              </a:lnSpc>
              <a:buNone/>
            </a:pPr>
            <a:r>
              <a:rPr lang="en-US" sz="1600" dirty="0">
                <a:solidFill>
                  <a:srgbClr val="0070C0"/>
                </a:solidFill>
                <a:latin typeface="Calibri" pitchFamily="34" charset="0"/>
                <a:ea typeface="Calibri" pitchFamily="34" charset="-122"/>
                <a:cs typeface="Calibri" pitchFamily="34" charset="-120"/>
              </a:rPr>
              <a:t>B. Bharath Sai Reddy  —  2520090128</a:t>
            </a:r>
            <a:endParaRPr lang="en-US" sz="1600" dirty="0"/>
          </a:p>
          <a:p>
            <a:pPr algn="ctr" indent="0" marL="0">
              <a:lnSpc>
                <a:spcPct val="130000"/>
              </a:lnSpc>
              <a:buNone/>
            </a:pPr>
            <a:r>
              <a:rPr lang="en-US" sz="1600" dirty="0">
                <a:solidFill>
                  <a:srgbClr val="0070C0"/>
                </a:solidFill>
                <a:latin typeface="Calibri" pitchFamily="34" charset="0"/>
                <a:ea typeface="Calibri" pitchFamily="34" charset="-122"/>
                <a:cs typeface="Calibri" pitchFamily="34" charset="-120"/>
              </a:rPr>
              <a:t>A. Chaitanya  —  2520090092</a:t>
            </a:r>
            <a:endParaRPr lang="en-US" sz="1600" dirty="0"/>
          </a:p>
        </p:txBody>
      </p:sp>
      <p:sp>
        <p:nvSpPr>
          <p:cNvPr id="10" name="Text 6"/>
          <p:cNvSpPr/>
          <p:nvPr/>
        </p:nvSpPr>
        <p:spPr>
          <a:xfrm>
            <a:off x="731520" y="4434840"/>
            <a:ext cx="10725912" cy="36576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Under the Esteemed Guidance of</a:t>
            </a:r>
            <a:endParaRPr lang="en-US" sz="1500" dirty="0"/>
          </a:p>
        </p:txBody>
      </p:sp>
      <p:sp>
        <p:nvSpPr>
          <p:cNvPr id="11" name="Text 7"/>
          <p:cNvSpPr/>
          <p:nvPr/>
        </p:nvSpPr>
        <p:spPr>
          <a:xfrm>
            <a:off x="731520" y="4800600"/>
            <a:ext cx="10725912" cy="41148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Mrs. Ch. Anitha, Asst. Professor, CS&amp;IT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Contents</a:t>
            </a:r>
            <a:endParaRPr lang="en-US" sz="2200" dirty="0"/>
          </a:p>
        </p:txBody>
      </p:sp>
      <p:sp>
        <p:nvSpPr>
          <p:cNvPr id="8" name="Text 4"/>
          <p:cNvSpPr/>
          <p:nvPr/>
        </p:nvSpPr>
        <p:spPr>
          <a:xfrm>
            <a:off x="2011680" y="1371600"/>
            <a:ext cx="8165592" cy="4846320"/>
          </a:xfrm>
          <a:prstGeom prst="rect">
            <a:avLst/>
          </a:prstGeom>
          <a:noFill/>
          <a:ln/>
        </p:spPr>
        <p:txBody>
          <a:bodyPr wrap="square" lIns="0" tIns="0" rIns="0" bIns="0" rtlCol="0" anchor="ctr"/>
          <a:lstStyle/>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Abstract</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Introduction</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Literature Survey</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Problem Statement and Objectives</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Flow Chart</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Results</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Hardware and Software Requirements</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Conclusion</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Future Scope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Efficient scheduling of hospital beds and operating rooms is a critical challenge because healthcare facilities have limited resources and multiple patient requirements.</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The proposed system develops an intelligent scheduling approach that assigns patients and surgical procedures to available beds, operating rooms and time slots while considering treatment duration, patient priority, staff availability, resource capacity and scheduling deadlines.</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The system models hospital scheduling as an optimization problem and applies network flow, assignment and approximation algorithms to generate high-quality schedules within practical execution time.</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The main objectives are to maximize resource utilization, reduce patient waiting time, minimize operating-room idle time and decrease overall completion time (makespan).</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The system also provides scheduling reports containing bed occupancy, operating-room utilization, scheduling efficiency and constraint violations.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Hospital beds and operating rooms are limited and costly resources.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Multiple patients compete for the same rooms, beds, staff and time slots.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Patients have different priorities, treatment durations and resource requirements.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Staff and equipment availability further restrict feasible schedules.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Emergency procedures may require immediate changes to an existing schedule.</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Surgery duration and patient requirements may be uncertain in real-world environments.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Therefore, hospital scheduling is a complex resource-allocation and optimization problem.</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Literature Survey</a:t>
            </a:r>
            <a:endParaRPr lang="en-US" sz="2200" dirty="0"/>
          </a:p>
        </p:txBody>
      </p:sp>
      <p:sp>
        <p:nvSpPr>
          <p:cNvPr id="8" name="Text 4"/>
          <p:cNvSpPr/>
          <p:nvPr/>
        </p:nvSpPr>
        <p:spPr>
          <a:xfrm>
            <a:off x="822960" y="1078992"/>
            <a:ext cx="10546690" cy="38404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Al Amin, Baldacci &amp; Kayvanfar (2025) — a comprehensive review of Operating Room Scheduling (ORS) research, 2000–2023</a:t>
            </a:r>
            <a:endParaRPr lang="en-US" sz="1300" dirty="0"/>
          </a:p>
        </p:txBody>
      </p:sp>
      <p:sp>
        <p:nvSpPr>
          <p:cNvPr id="9" name="Shape 5"/>
          <p:cNvSpPr/>
          <p:nvPr/>
        </p:nvSpPr>
        <p:spPr>
          <a:xfrm>
            <a:off x="822960" y="1554480"/>
            <a:ext cx="3657600" cy="384048"/>
          </a:xfrm>
          <a:prstGeom prst="rect">
            <a:avLst/>
          </a:prstGeom>
          <a:solidFill>
            <a:srgbClr val="F1DADA"/>
          </a:solidFill>
          <a:ln/>
        </p:spPr>
      </p:sp>
      <p:sp>
        <p:nvSpPr>
          <p:cNvPr id="10" name="Text 6"/>
          <p:cNvSpPr/>
          <p:nvPr/>
        </p:nvSpPr>
        <p:spPr>
          <a:xfrm>
            <a:off x="822960" y="1554480"/>
            <a:ext cx="365760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Key Findings</a:t>
            </a:r>
            <a:endParaRPr lang="en-US" sz="1600" dirty="0"/>
          </a:p>
        </p:txBody>
      </p:sp>
      <p:sp>
        <p:nvSpPr>
          <p:cNvPr id="11" name="Text 7"/>
          <p:cNvSpPr/>
          <p:nvPr/>
        </p:nvSpPr>
        <p:spPr>
          <a:xfrm>
            <a:off x="822960" y="2103120"/>
            <a:ext cx="10546690" cy="393192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OR scheduling involves multiple interacting resources and constraints — resource limitations, staff availability, patient variability, surgery duration, and emergency/urgent procedures.</a:t>
            </a:r>
            <a:endParaRPr lang="en-US" sz="1550" dirty="0"/>
          </a:p>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Research uses optimization methods under both deterministic and uncertain conditions.</a:t>
            </a:r>
            <a:endParaRPr lang="en-US" sz="1550" dirty="0"/>
          </a:p>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Common performance measures: patient waiting time, OR utilization, idle time, throughput, makespan and patient deferral.</a:t>
            </a:r>
            <a:endParaRPr lang="en-US" sz="1550" dirty="0"/>
          </a:p>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Heuristics and mathematical programming are frequently used for difficult linear and combinatorial optimization problems.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Problem Statement and Objectives</a:t>
            </a:r>
            <a:endParaRPr lang="en-US" sz="2200" dirty="0"/>
          </a:p>
        </p:txBody>
      </p:sp>
      <p:sp>
        <p:nvSpPr>
          <p:cNvPr id="8" name="Shape 4"/>
          <p:cNvSpPr/>
          <p:nvPr/>
        </p:nvSpPr>
        <p:spPr>
          <a:xfrm>
            <a:off x="822960" y="1234440"/>
            <a:ext cx="4952390" cy="384048"/>
          </a:xfrm>
          <a:prstGeom prst="rect">
            <a:avLst/>
          </a:prstGeom>
          <a:solidFill>
            <a:srgbClr val="F1DADA"/>
          </a:solidFill>
          <a:ln/>
        </p:spPr>
      </p:sp>
      <p:sp>
        <p:nvSpPr>
          <p:cNvPr id="9" name="Text 5"/>
          <p:cNvSpPr/>
          <p:nvPr/>
        </p:nvSpPr>
        <p:spPr>
          <a:xfrm>
            <a:off x="822960"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Problem Statement</a:t>
            </a:r>
            <a:endParaRPr lang="en-US" sz="1600" dirty="0"/>
          </a:p>
        </p:txBody>
      </p:sp>
      <p:sp>
        <p:nvSpPr>
          <p:cNvPr id="10" name="Text 6"/>
          <p:cNvSpPr/>
          <p:nvPr/>
        </p:nvSpPr>
        <p:spPr>
          <a:xfrm>
            <a:off x="822960"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Hospitals must allocate patients and surgical procedures to limited beds, operating rooms, staff and time slots.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Difficulty arises from limited resource capacity, variable surgery durations, and time-varying staff availability.</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Certain procedures require specific ORs or resources, and emergency cases can disrupt planned schedules.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Growing patient volume causes an explosive growth in the number of possible schedules.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Problem: how can beds and ORs be allocated efficiently while minimizing waiting time, idle time and completion time?</a:t>
            </a:r>
            <a:endParaRPr lang="en-US" sz="1550" dirty="0"/>
          </a:p>
        </p:txBody>
      </p:sp>
      <p:sp>
        <p:nvSpPr>
          <p:cNvPr id="11" name="Shape 7"/>
          <p:cNvSpPr/>
          <p:nvPr/>
        </p:nvSpPr>
        <p:spPr>
          <a:xfrm>
            <a:off x="6231636" y="1234440"/>
            <a:ext cx="4952390" cy="384048"/>
          </a:xfrm>
          <a:prstGeom prst="rect">
            <a:avLst/>
          </a:prstGeom>
          <a:solidFill>
            <a:srgbClr val="F1DADA"/>
          </a:solidFill>
          <a:ln/>
        </p:spPr>
      </p:sp>
      <p:sp>
        <p:nvSpPr>
          <p:cNvPr id="12" name="Text 8"/>
          <p:cNvSpPr/>
          <p:nvPr/>
        </p:nvSpPr>
        <p:spPr>
          <a:xfrm>
            <a:off x="6231636"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Objectives</a:t>
            </a:r>
            <a:endParaRPr lang="en-US" sz="1600" dirty="0"/>
          </a:p>
        </p:txBody>
      </p:sp>
      <p:sp>
        <p:nvSpPr>
          <p:cNvPr id="13" name="Text 9"/>
          <p:cNvSpPr/>
          <p:nvPr/>
        </p:nvSpPr>
        <p:spPr>
          <a:xfrm>
            <a:off x="6231636"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Maximize utilization of hospital resources.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Minimize patient waiting time and scheduling conflicts.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Prioritize urgent and high-priority patients.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Consider staff and resource availability.</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Minimize overall completion time (makespan).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Generate feasible schedules within practical execution time.</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Detect and report constraint violations; evaluate performance using measurable KPIs.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logo.png">    </p:cNvPr>
          <p:cNvPicPr>
            <a:picLocks noChangeAspect="1"/>
          </p:cNvPicPr>
          <p:nvPr/>
        </p:nvPicPr>
        <p:blipFill>
          <a:blip r:embed="rId1"/>
          <a:stretch>
            <a:fillRect/>
          </a:stretch>
        </p:blipFill>
        <p:spPr>
          <a:xfrm>
            <a:off x="73152" y="109728"/>
            <a:ext cx="1828800" cy="782726"/>
          </a:xfrm>
          <a:prstGeom prst="rect">
            <a:avLst/>
          </a:prstGeom>
        </p:spPr>
      </p:pic>
      <p:sp>
        <p:nvSpPr>
          <p:cNvPr id="5" name="Shape 2"/>
          <p:cNvSpPr/>
          <p:nvPr/>
        </p:nvSpPr>
        <p:spPr>
          <a:xfrm>
            <a:off x="3581705" y="256032"/>
            <a:ext cx="5669280" cy="566928"/>
          </a:xfrm>
          <a:prstGeom prst="roundRect">
            <a:avLst>
              <a:gd name="adj" fmla="val 19355"/>
            </a:avLst>
          </a:prstGeom>
          <a:solidFill>
            <a:srgbClr val="C00000"/>
          </a:solidFill>
          <a:ln/>
        </p:spPr>
      </p:sp>
      <p:sp>
        <p:nvSpPr>
          <p:cNvPr id="6"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Flow Chart</a:t>
            </a:r>
            <a:endParaRPr lang="en-US" sz="2200" dirty="0"/>
          </a:p>
        </p:txBody>
      </p:sp>
      <p:sp>
        <p:nvSpPr>
          <p:cNvPr id="7" name="Shape 4"/>
          <p:cNvSpPr/>
          <p:nvPr/>
        </p:nvSpPr>
        <p:spPr>
          <a:xfrm>
            <a:off x="3078328" y="1234440"/>
            <a:ext cx="6035040" cy="530352"/>
          </a:xfrm>
          <a:prstGeom prst="roundRect">
            <a:avLst>
              <a:gd name="adj" fmla="val 15517"/>
            </a:avLst>
          </a:prstGeom>
          <a:solidFill>
            <a:srgbClr val="FFFFFF"/>
          </a:solidFill>
          <a:ln w="19050">
            <a:solidFill>
              <a:srgbClr val="C00000"/>
            </a:solidFill>
            <a:prstDash val="solid"/>
          </a:ln>
        </p:spPr>
      </p:sp>
      <p:sp>
        <p:nvSpPr>
          <p:cNvPr id="8" name="Text 5"/>
          <p:cNvSpPr/>
          <p:nvPr/>
        </p:nvSpPr>
        <p:spPr>
          <a:xfrm>
            <a:off x="3169768" y="1234440"/>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Patient / Surgery Request Input</a:t>
            </a:r>
            <a:endParaRPr lang="en-US" sz="1350" dirty="0"/>
          </a:p>
        </p:txBody>
      </p:sp>
      <p:sp>
        <p:nvSpPr>
          <p:cNvPr id="9" name="Shape 6"/>
          <p:cNvSpPr/>
          <p:nvPr/>
        </p:nvSpPr>
        <p:spPr>
          <a:xfrm>
            <a:off x="6095848" y="1764792"/>
            <a:ext cx="0" cy="128016"/>
          </a:xfrm>
          <a:prstGeom prst="line">
            <a:avLst/>
          </a:prstGeom>
          <a:noFill/>
          <a:ln w="22225">
            <a:solidFill>
              <a:srgbClr val="C00000"/>
            </a:solidFill>
            <a:prstDash val="solid"/>
            <a:tailEnd type="triangle"/>
          </a:ln>
        </p:spPr>
      </p:sp>
      <p:sp>
        <p:nvSpPr>
          <p:cNvPr id="10" name="Shape 7"/>
          <p:cNvSpPr/>
          <p:nvPr/>
        </p:nvSpPr>
        <p:spPr>
          <a:xfrm>
            <a:off x="3078328" y="1892808"/>
            <a:ext cx="6035040" cy="530352"/>
          </a:xfrm>
          <a:prstGeom prst="roundRect">
            <a:avLst>
              <a:gd name="adj" fmla="val 15517"/>
            </a:avLst>
          </a:prstGeom>
          <a:solidFill>
            <a:srgbClr val="FFFFFF"/>
          </a:solidFill>
          <a:ln w="19050">
            <a:solidFill>
              <a:srgbClr val="C00000"/>
            </a:solidFill>
            <a:prstDash val="solid"/>
          </a:ln>
        </p:spPr>
      </p:sp>
      <p:sp>
        <p:nvSpPr>
          <p:cNvPr id="11" name="Text 8"/>
          <p:cNvSpPr/>
          <p:nvPr/>
        </p:nvSpPr>
        <p:spPr>
          <a:xfrm>
            <a:off x="3169768" y="1892808"/>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Extract Requirements (Priority, Duration, Resources)</a:t>
            </a:r>
            <a:endParaRPr lang="en-US" sz="1350" dirty="0"/>
          </a:p>
        </p:txBody>
      </p:sp>
      <p:sp>
        <p:nvSpPr>
          <p:cNvPr id="12" name="Shape 9"/>
          <p:cNvSpPr/>
          <p:nvPr/>
        </p:nvSpPr>
        <p:spPr>
          <a:xfrm>
            <a:off x="6095848" y="2423160"/>
            <a:ext cx="0" cy="128016"/>
          </a:xfrm>
          <a:prstGeom prst="line">
            <a:avLst/>
          </a:prstGeom>
          <a:noFill/>
          <a:ln w="22225">
            <a:solidFill>
              <a:srgbClr val="C00000"/>
            </a:solidFill>
            <a:prstDash val="solid"/>
            <a:tailEnd type="triangle"/>
          </a:ln>
        </p:spPr>
      </p:sp>
      <p:sp>
        <p:nvSpPr>
          <p:cNvPr id="13" name="Shape 10"/>
          <p:cNvSpPr/>
          <p:nvPr/>
        </p:nvSpPr>
        <p:spPr>
          <a:xfrm>
            <a:off x="3078328" y="2551176"/>
            <a:ext cx="6035040" cy="530352"/>
          </a:xfrm>
          <a:prstGeom prst="roundRect">
            <a:avLst>
              <a:gd name="adj" fmla="val 15517"/>
            </a:avLst>
          </a:prstGeom>
          <a:solidFill>
            <a:srgbClr val="FFFFFF"/>
          </a:solidFill>
          <a:ln w="19050">
            <a:solidFill>
              <a:srgbClr val="C00000"/>
            </a:solidFill>
            <a:prstDash val="solid"/>
          </a:ln>
        </p:spPr>
      </p:sp>
      <p:sp>
        <p:nvSpPr>
          <p:cNvPr id="14" name="Text 11"/>
          <p:cNvSpPr/>
          <p:nvPr/>
        </p:nvSpPr>
        <p:spPr>
          <a:xfrm>
            <a:off x="3169768" y="2551176"/>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Check Resource Availability (Beds, OR, Staff)</a:t>
            </a:r>
            <a:endParaRPr lang="en-US" sz="1350" dirty="0"/>
          </a:p>
        </p:txBody>
      </p:sp>
      <p:sp>
        <p:nvSpPr>
          <p:cNvPr id="15" name="Shape 12"/>
          <p:cNvSpPr/>
          <p:nvPr/>
        </p:nvSpPr>
        <p:spPr>
          <a:xfrm>
            <a:off x="6095848" y="3081528"/>
            <a:ext cx="0" cy="128016"/>
          </a:xfrm>
          <a:prstGeom prst="line">
            <a:avLst/>
          </a:prstGeom>
          <a:noFill/>
          <a:ln w="22225">
            <a:solidFill>
              <a:srgbClr val="C00000"/>
            </a:solidFill>
            <a:prstDash val="solid"/>
            <a:tailEnd type="triangle"/>
          </a:ln>
        </p:spPr>
      </p:sp>
      <p:sp>
        <p:nvSpPr>
          <p:cNvPr id="16" name="Shape 13"/>
          <p:cNvSpPr/>
          <p:nvPr/>
        </p:nvSpPr>
        <p:spPr>
          <a:xfrm>
            <a:off x="3078328" y="3209544"/>
            <a:ext cx="6035040" cy="530352"/>
          </a:xfrm>
          <a:prstGeom prst="roundRect">
            <a:avLst>
              <a:gd name="adj" fmla="val 15517"/>
            </a:avLst>
          </a:prstGeom>
          <a:solidFill>
            <a:srgbClr val="FFFFFF"/>
          </a:solidFill>
          <a:ln w="19050">
            <a:solidFill>
              <a:srgbClr val="C00000"/>
            </a:solidFill>
            <a:prstDash val="solid"/>
          </a:ln>
        </p:spPr>
      </p:sp>
      <p:sp>
        <p:nvSpPr>
          <p:cNvPr id="17" name="Text 14"/>
          <p:cNvSpPr/>
          <p:nvPr/>
        </p:nvSpPr>
        <p:spPr>
          <a:xfrm>
            <a:off x="3169768" y="3209544"/>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Apply Scheduling Algorithms (Network Flow / Assignment / DP)</a:t>
            </a:r>
            <a:endParaRPr lang="en-US" sz="1350" dirty="0"/>
          </a:p>
        </p:txBody>
      </p:sp>
      <p:sp>
        <p:nvSpPr>
          <p:cNvPr id="18" name="Shape 15"/>
          <p:cNvSpPr/>
          <p:nvPr/>
        </p:nvSpPr>
        <p:spPr>
          <a:xfrm>
            <a:off x="6095848" y="3739896"/>
            <a:ext cx="0" cy="128016"/>
          </a:xfrm>
          <a:prstGeom prst="line">
            <a:avLst/>
          </a:prstGeom>
          <a:noFill/>
          <a:ln w="22225">
            <a:solidFill>
              <a:srgbClr val="C00000"/>
            </a:solidFill>
            <a:prstDash val="solid"/>
            <a:tailEnd type="triangle"/>
          </a:ln>
        </p:spPr>
      </p:sp>
      <p:sp>
        <p:nvSpPr>
          <p:cNvPr id="19" name="Shape 16"/>
          <p:cNvSpPr/>
          <p:nvPr/>
        </p:nvSpPr>
        <p:spPr>
          <a:xfrm>
            <a:off x="3078328" y="3867912"/>
            <a:ext cx="6035040" cy="530352"/>
          </a:xfrm>
          <a:prstGeom prst="roundRect">
            <a:avLst>
              <a:gd name="adj" fmla="val 15517"/>
            </a:avLst>
          </a:prstGeom>
          <a:solidFill>
            <a:srgbClr val="FFFFFF"/>
          </a:solidFill>
          <a:ln w="19050">
            <a:solidFill>
              <a:srgbClr val="C00000"/>
            </a:solidFill>
            <a:prstDash val="solid"/>
          </a:ln>
        </p:spPr>
      </p:sp>
      <p:sp>
        <p:nvSpPr>
          <p:cNvPr id="20" name="Text 17"/>
          <p:cNvSpPr/>
          <p:nvPr/>
        </p:nvSpPr>
        <p:spPr>
          <a:xfrm>
            <a:off x="3169768" y="3867912"/>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Generate Optimized Schedule</a:t>
            </a:r>
            <a:endParaRPr lang="en-US" sz="1350" dirty="0"/>
          </a:p>
        </p:txBody>
      </p:sp>
      <p:sp>
        <p:nvSpPr>
          <p:cNvPr id="21" name="Shape 18"/>
          <p:cNvSpPr/>
          <p:nvPr/>
        </p:nvSpPr>
        <p:spPr>
          <a:xfrm>
            <a:off x="6095848" y="4398264"/>
            <a:ext cx="0" cy="128016"/>
          </a:xfrm>
          <a:prstGeom prst="line">
            <a:avLst/>
          </a:prstGeom>
          <a:noFill/>
          <a:ln w="22225">
            <a:solidFill>
              <a:srgbClr val="C00000"/>
            </a:solidFill>
            <a:prstDash val="solid"/>
            <a:tailEnd type="triangle"/>
          </a:ln>
        </p:spPr>
      </p:sp>
      <p:sp>
        <p:nvSpPr>
          <p:cNvPr id="22" name="Shape 19"/>
          <p:cNvSpPr/>
          <p:nvPr/>
        </p:nvSpPr>
        <p:spPr>
          <a:xfrm>
            <a:off x="3078328" y="4526280"/>
            <a:ext cx="6035040" cy="530352"/>
          </a:xfrm>
          <a:prstGeom prst="roundRect">
            <a:avLst>
              <a:gd name="adj" fmla="val 15517"/>
            </a:avLst>
          </a:prstGeom>
          <a:solidFill>
            <a:srgbClr val="FFFFFF"/>
          </a:solidFill>
          <a:ln w="19050">
            <a:solidFill>
              <a:srgbClr val="C00000"/>
            </a:solidFill>
            <a:prstDash val="solid"/>
          </a:ln>
        </p:spPr>
      </p:sp>
      <p:sp>
        <p:nvSpPr>
          <p:cNvPr id="23" name="Text 20"/>
          <p:cNvSpPr/>
          <p:nvPr/>
        </p:nvSpPr>
        <p:spPr>
          <a:xfrm>
            <a:off x="3169768" y="4526280"/>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Detect &amp; Resolve Conflicts / Emergencies</a:t>
            </a:r>
            <a:endParaRPr lang="en-US" sz="1350" dirty="0"/>
          </a:p>
        </p:txBody>
      </p:sp>
      <p:sp>
        <p:nvSpPr>
          <p:cNvPr id="24" name="Shape 21"/>
          <p:cNvSpPr/>
          <p:nvPr/>
        </p:nvSpPr>
        <p:spPr>
          <a:xfrm>
            <a:off x="6095848" y="5056632"/>
            <a:ext cx="0" cy="128016"/>
          </a:xfrm>
          <a:prstGeom prst="line">
            <a:avLst/>
          </a:prstGeom>
          <a:noFill/>
          <a:ln w="22225">
            <a:solidFill>
              <a:srgbClr val="C00000"/>
            </a:solidFill>
            <a:prstDash val="solid"/>
            <a:tailEnd type="triangle"/>
          </a:ln>
        </p:spPr>
      </p:sp>
      <p:sp>
        <p:nvSpPr>
          <p:cNvPr id="25" name="Shape 22"/>
          <p:cNvSpPr/>
          <p:nvPr/>
        </p:nvSpPr>
        <p:spPr>
          <a:xfrm>
            <a:off x="3078328" y="5184648"/>
            <a:ext cx="6035040" cy="530352"/>
          </a:xfrm>
          <a:prstGeom prst="roundRect">
            <a:avLst>
              <a:gd name="adj" fmla="val 15517"/>
            </a:avLst>
          </a:prstGeom>
          <a:solidFill>
            <a:srgbClr val="C00000"/>
          </a:solidFill>
          <a:ln w="19050">
            <a:solidFill>
              <a:srgbClr val="C00000"/>
            </a:solidFill>
            <a:prstDash val="solid"/>
          </a:ln>
        </p:spPr>
      </p:sp>
      <p:sp>
        <p:nvSpPr>
          <p:cNvPr id="26" name="Text 23"/>
          <p:cNvSpPr/>
          <p:nvPr/>
        </p:nvSpPr>
        <p:spPr>
          <a:xfrm>
            <a:off x="3169768" y="5184648"/>
            <a:ext cx="5852160" cy="5303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Output: Reports &amp; KPIs (Occupancy, Utilization, Waiting Time)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Results</a:t>
            </a:r>
            <a:endParaRPr lang="en-US" sz="2200" dirty="0"/>
          </a:p>
        </p:txBody>
      </p:sp>
      <p:sp>
        <p:nvSpPr>
          <p:cNvPr id="8" name="Text 4"/>
          <p:cNvSpPr/>
          <p:nvPr/>
        </p:nvSpPr>
        <p:spPr>
          <a:xfrm>
            <a:off x="822960" y="1051560"/>
            <a:ext cx="10546690" cy="32004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Performance metrics tracked by the scheduling system</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1417320"/>
          <a:ext cx="5943600" cy="914400"/>
        </p:xfrm>
        <a:graphic>
          <a:graphicData uri="http://schemas.openxmlformats.org/drawingml/2006/table">
            <a:tbl>
              <a:tblPr/>
              <a:tblGrid>
                <a:gridCol w="3840480"/>
                <a:gridCol w="2103120"/>
              </a:tblGrid>
              <a:tr h="36576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C0000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Desired Outcome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C00000"/>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Patient Waiting Time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OR Idle Time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Resource Utilization</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Maximize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Scheduling Conflicts</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Makespan</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Throughput</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Maximize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bl>
          </a:graphicData>
        </a:graphic>
      </p:graphicFrame>
      <p:sp>
        <p:nvSpPr>
          <p:cNvPr id="10" name="Shape 5"/>
          <p:cNvSpPr/>
          <p:nvPr/>
        </p:nvSpPr>
        <p:spPr>
          <a:xfrm>
            <a:off x="7086600" y="1417320"/>
            <a:ext cx="4279392" cy="384048"/>
          </a:xfrm>
          <a:prstGeom prst="rect">
            <a:avLst/>
          </a:prstGeom>
          <a:solidFill>
            <a:srgbClr val="F1DADA"/>
          </a:solidFill>
          <a:ln/>
        </p:spPr>
      </p:sp>
      <p:sp>
        <p:nvSpPr>
          <p:cNvPr id="11" name="Text 6"/>
          <p:cNvSpPr/>
          <p:nvPr/>
        </p:nvSpPr>
        <p:spPr>
          <a:xfrm>
            <a:off x="7086600" y="1417320"/>
            <a:ext cx="4279392" cy="384048"/>
          </a:xfrm>
          <a:prstGeom prst="rect">
            <a:avLst/>
          </a:prstGeom>
          <a:noFill/>
          <a:ln/>
        </p:spPr>
        <p:txBody>
          <a:bodyPr wrap="square" lIns="0" tIns="0" rIns="0" bIns="0" rtlCol="0" anchor="ctr"/>
          <a:lstStyle/>
          <a:p>
            <a:pPr algn="ctr" indent="0" marL="0">
              <a:buNone/>
            </a:pPr>
            <a:r>
              <a:rPr lang="en-US" sz="1500" b="1" dirty="0">
                <a:solidFill>
                  <a:srgbClr val="C00000"/>
                </a:solidFill>
                <a:latin typeface="Calibri" pitchFamily="34" charset="0"/>
                <a:ea typeface="Calibri" pitchFamily="34" charset="-122"/>
                <a:cs typeface="Calibri" pitchFamily="34" charset="-120"/>
              </a:rPr>
              <a:t>Expected Output</a:t>
            </a:r>
            <a:endParaRPr lang="en-US" sz="1500" dirty="0"/>
          </a:p>
        </p:txBody>
      </p:sp>
      <p:sp>
        <p:nvSpPr>
          <p:cNvPr id="12" name="Text 7"/>
          <p:cNvSpPr/>
          <p:nvPr/>
        </p:nvSpPr>
        <p:spPr>
          <a:xfrm>
            <a:off x="7086600" y="1920240"/>
            <a:ext cx="4279392" cy="320040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Patient-to-bed and patient-to-OR allocation</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Surgery time-slot and staff/resource allocation</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Patient priority handling</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Bed occupancy &amp; OR utilization reports</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Scheduling efficiency &amp; constraint-violation reports</a:t>
            </a:r>
            <a:endParaRPr lang="en-US" sz="1250" dirty="0"/>
          </a:p>
        </p:txBody>
      </p:sp>
      <p:sp>
        <p:nvSpPr>
          <p:cNvPr id="13" name="Text 8"/>
          <p:cNvSpPr/>
          <p:nvPr/>
        </p:nvSpPr>
        <p:spPr>
          <a:xfrm>
            <a:off x="822960" y="4343400"/>
            <a:ext cx="10546690" cy="822960"/>
          </a:xfrm>
          <a:prstGeom prst="rect">
            <a:avLst/>
          </a:prstGeom>
          <a:noFill/>
          <a:ln/>
        </p:spPr>
        <p:txBody>
          <a:bodyPr wrap="square" lIns="0" tIns="0" rIns="0" bIns="0" rtlCol="0" anchor="t"/>
          <a:lstStyle/>
          <a:p>
            <a:pPr indent="0" marL="0">
              <a:lnSpc>
                <a:spcPct val="120000"/>
              </a:lnSpc>
              <a:buNone/>
            </a:pPr>
            <a:r>
              <a:rPr lang="en-US" sz="1350" b="1" dirty="0">
                <a:solidFill>
                  <a:srgbClr val="C00000"/>
                </a:solidFill>
                <a:latin typeface="Calibri" pitchFamily="34" charset="0"/>
                <a:ea typeface="Calibri" pitchFamily="34" charset="-122"/>
                <a:cs typeface="Calibri" pitchFamily="34" charset="-120"/>
              </a:rPr>
              <a:t>Approach: </a:t>
            </a:r>
            <a:pPr indent="0" marL="0">
              <a:lnSpc>
                <a:spcPct val="120000"/>
              </a:lnSpc>
              <a:buNone/>
            </a:pPr>
            <a:r>
              <a:rPr lang="en-US" sz="1350" dirty="0">
                <a:solidFill>
                  <a:srgbClr val="1A1A1A"/>
                </a:solidFill>
                <a:latin typeface="Calibri" pitchFamily="34" charset="0"/>
                <a:ea typeface="Calibri" pitchFamily="34" charset="-122"/>
                <a:cs typeface="Calibri" pitchFamily="34" charset="-120"/>
              </a:rPr>
              <a:t>Network flow and assignment algorithms allocate resources; dynamic programming optimizes time slots; approximation algorithms keep hard instances practical.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Hardware and Software Requirements</a:t>
            </a:r>
            <a:endParaRPr lang="en-US" sz="2200" dirty="0"/>
          </a:p>
        </p:txBody>
      </p:sp>
      <p:sp>
        <p:nvSpPr>
          <p:cNvPr id="8" name="Shape 4"/>
          <p:cNvSpPr/>
          <p:nvPr/>
        </p:nvSpPr>
        <p:spPr>
          <a:xfrm>
            <a:off x="822960" y="1234440"/>
            <a:ext cx="4952390" cy="384048"/>
          </a:xfrm>
          <a:prstGeom prst="rect">
            <a:avLst/>
          </a:prstGeom>
          <a:solidFill>
            <a:srgbClr val="F1DADA"/>
          </a:solidFill>
          <a:ln/>
        </p:spPr>
      </p:sp>
      <p:sp>
        <p:nvSpPr>
          <p:cNvPr id="9" name="Text 5"/>
          <p:cNvSpPr/>
          <p:nvPr/>
        </p:nvSpPr>
        <p:spPr>
          <a:xfrm>
            <a:off x="822960"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Hardware Requirements</a:t>
            </a:r>
            <a:endParaRPr lang="en-US" sz="1600" dirty="0"/>
          </a:p>
        </p:txBody>
      </p:sp>
      <p:sp>
        <p:nvSpPr>
          <p:cNvPr id="10" name="Text 6"/>
          <p:cNvSpPr/>
          <p:nvPr/>
        </p:nvSpPr>
        <p:spPr>
          <a:xfrm>
            <a:off x="822960"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Computer / Laptop</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Minimum 4 GB RAM</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Dual-core processor or higher</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Minimum 5 GB available storage</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Keyboard and display</a:t>
            </a:r>
            <a:endParaRPr lang="en-US" sz="1600" dirty="0"/>
          </a:p>
        </p:txBody>
      </p:sp>
      <p:sp>
        <p:nvSpPr>
          <p:cNvPr id="11" name="Shape 7"/>
          <p:cNvSpPr/>
          <p:nvPr/>
        </p:nvSpPr>
        <p:spPr>
          <a:xfrm>
            <a:off x="6231636" y="1234440"/>
            <a:ext cx="4952390" cy="384048"/>
          </a:xfrm>
          <a:prstGeom prst="rect">
            <a:avLst/>
          </a:prstGeom>
          <a:solidFill>
            <a:srgbClr val="F1DADA"/>
          </a:solidFill>
          <a:ln/>
        </p:spPr>
      </p:sp>
      <p:sp>
        <p:nvSpPr>
          <p:cNvPr id="12" name="Text 8"/>
          <p:cNvSpPr/>
          <p:nvPr/>
        </p:nvSpPr>
        <p:spPr>
          <a:xfrm>
            <a:off x="6231636"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Software Requirements</a:t>
            </a:r>
            <a:endParaRPr lang="en-US" sz="1600" dirty="0"/>
          </a:p>
        </p:txBody>
      </p:sp>
      <p:sp>
        <p:nvSpPr>
          <p:cNvPr id="13" name="Text 9"/>
          <p:cNvSpPr/>
          <p:nvPr/>
        </p:nvSpPr>
        <p:spPr>
          <a:xfrm>
            <a:off x="6231636"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Operating System: Windows / Linux</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IDE: VS Code / IntelliJ IDEA</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Programming Language: Java</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Dataset: Patient, hospital resource and scheduling data</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Version Control: Git / GitHub</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Visualization: Charts / tables for performance analysis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Hospital bed and operating-room scheduling is a complex, constraint-heavy optimization problem.</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Limited resources and multiple constraints make manual scheduling inefficient.</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proposed system applies advanced DSA techniques to model and solve different parts of the problem.</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Network flow and assignment algorithms handle resource allocation.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Dynamic programming supports time-slot optimization.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Approximation algorithms provide practical solutions for computationally difficult scheduling instances.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String algorithms support efficient information retrieval; randomized techniques explore alternative schedules.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system aims to improve resource utilization while reducing patient waiting time, OR idle time and makespan.</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Future Scope</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Integrate real-time hospital data and dynamically update schedules when emergency cases arrive.</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Incorporate uncertainty in surgery duration; use historical data to predict duration.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Integrate machine learning with optimization algorithms.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Add real-time monitoring of beds and operating rooms.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Extend the system to multiple hospitals.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Include additional resources such as nurses, surgeons and specialized equipment.</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Explore advanced metaheuristic and adaptive scheduling approaches.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Develop AI-assisted decision support for hospital administrators.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logo.png">    </p:cNvPr>
          <p:cNvPicPr>
            <a:picLocks noChangeAspect="1"/>
          </p:cNvPicPr>
          <p:nvPr/>
        </p:nvPicPr>
        <p:blipFill>
          <a:blip r:embed="rId1"/>
          <a:stretch>
            <a:fillRect/>
          </a:stretch>
        </p:blipFill>
        <p:spPr>
          <a:xfrm>
            <a:off x="73152" y="109728"/>
            <a:ext cx="1828800" cy="782726"/>
          </a:xfrm>
          <a:prstGeom prst="rect">
            <a:avLst/>
          </a:prstGeom>
        </p:spPr>
      </p:pic>
      <p:pic>
        <p:nvPicPr>
          <p:cNvPr id="5" name="Image 1" descr="/home/claude/hosp_assets/pattern.jpeg">    </p:cNvPr>
          <p:cNvPicPr>
            <a:picLocks noChangeAspect="1"/>
          </p:cNvPicPr>
          <p:nvPr/>
        </p:nvPicPr>
        <p:blipFill>
          <a:blip r:embed="rId2">
            <a:alphaModFix amt="12000"/>
          </a:blip>
          <a:stretch>
            <a:fillRect/>
          </a:stretch>
        </p:blipFill>
        <p:spPr>
          <a:xfrm>
            <a:off x="-548640" y="4114800"/>
            <a:ext cx="3108960" cy="3108960"/>
          </a:xfrm>
          <a:prstGeom prst="rect">
            <a:avLst/>
          </a:prstGeom>
        </p:spPr>
      </p:pic>
      <p:sp>
        <p:nvSpPr>
          <p:cNvPr id="6" name="Shape 2"/>
          <p:cNvSpPr/>
          <p:nvPr/>
        </p:nvSpPr>
        <p:spPr>
          <a:xfrm>
            <a:off x="4267505" y="2834640"/>
            <a:ext cx="3657600" cy="1005840"/>
          </a:xfrm>
          <a:prstGeom prst="roundRect">
            <a:avLst>
              <a:gd name="adj" fmla="val 12727"/>
            </a:avLst>
          </a:prstGeom>
          <a:solidFill>
            <a:srgbClr val="C00000"/>
          </a:solidFill>
          <a:ln/>
        </p:spPr>
      </p:sp>
      <p:sp>
        <p:nvSpPr>
          <p:cNvPr id="7" name="Text 3"/>
          <p:cNvSpPr/>
          <p:nvPr/>
        </p:nvSpPr>
        <p:spPr>
          <a:xfrm>
            <a:off x="4267505" y="2834640"/>
            <a:ext cx="3657600"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Thank You</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2026-09-01T04:14:46Z</dcterms:created>
  <dcterms:modified xsi:type="dcterms:W3CDTF">2026-09-01T04:14:46Z</dcterms:modified>
</cp:coreProperties>
</file>